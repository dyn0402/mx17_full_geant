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for INFN presentation of the July run plan + post-LS3 expectations, plus a broader set of simulation results. Section A (slides 2-5) is the INFN-requested core; Section B is supporting detail. All numbers from the full Geant4 campaign (5e8 neutrons, 1e7 pair events).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Geometry from scripts/plot_geometry.py (SimConfig defaults). Beam into the page. Production happens in the He-3 gas; the two leptons exit through the capsule wall (the dominant resolution limit, see later) and are tracked in the Micromegas. Calorimetry is conservatively treated as unusable at high energy, so the measurement rests on MM tracking only.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docs/report/mev_note.tex + analysis/mev. The per-bin X17/day uses alpha_IPC = 3.5e-3. Green = July reach (0.2-0.7 MeV), blue = the extra reach LS3 buys (0.7-2 MeV). Top axis is neutron TOF to EAR2 at 19.5 m: 2 MeV = 1.0 us, 0.7 MeV = 1.7 us, 0.2 MeV = 3.2 us. Recorded X17 in 30 d: 64 (July) -&gt; 220 (LS3).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Conservative July choice: gamma-flash recovery only by ~1.7 us, so max neutron energy ~0.7 MeV (this 'energy cutoff' framing is how the collaboration thinks). 143 captures in the window -&gt; 64 recorded X17 / 3093 IPC over 30 days at alpha=3.5e-3. The caveat box is a separate shape: delete it for the INFN talk if desired. Figure: scripts/make_slides_figures.py.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LS3 goal stated by the collaboration: achieve neutron energy of at least 2 MeV. Same plot as July, window extended 0.7-&gt;2 MeV. Recorded X17 30 d: 220 vs 64 (x3.4). S/B identical (set by X17/IPC branching x acceptance ratio, window-independent). The decisive question remains the gamma-flash recovery time, measured on the real setup.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geometry slide (scripts/plot_geometry.py). Side view shows the capsule bottle profile (20 mm dia x 40 mm + domed ends, neck/valve on axis) and the beam hitting it end-on along +Y. The 3D isometric shows all four arms; arms 2,3 are along +/-Z (not shown in the side 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docs/angular_resolution/angular_resolution_note. Highland budget on the new STEP capsule. The vertex-constraint trick (target-centre chord) is already within 0.5 deg of the perfect-vertex oracle because the small target banks the gain. Detector spatial resolution costs &lt;0.5 deg. This is the single most important hardware fact for the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'money plot' from the angular note. Per-leg smearing drawn from the measured P(psi|KE) response (best estimator). Normalised to full-production 30-day recorded yields (191 X17 / 9190 IPC at alpha=2.1e-3). The middle vs right panels show the shoulder before/after smearing on the IPC continuum.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X17 has KE- + KE+ ~ 19.6 MeV so one leg is always &lt;= 9.8 MeV; the resolution is driven by the softer leg. MM-internal quality cuts (straightness, dE/dx) could reject soft legs and recover ~12.5 deg without a calorimeter -- the one open reconstruction study.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docs/report/e0_final_metric_note + e0_branch docs. Addresses Alberto's E0 question. Key physics: 0+-&gt;0+ is photon-dark because the photon is massless, but a massive vector/scalar X17 is allowed. The rate is bounded by the (tiny) E0 capture rate. Left panel: IPC background pairs/day; right: X17 signal. Gold/blue = thermal vs flash trigger regions.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Significance projection (open item from the summary slide). Numbers from scripts/make_slides_figures.py templates fed through an Asimov binned profile-likelihood: Z = sqrt(2 sum[(s+b)ln(1+s/b)-s]). July smeared Z=2.64 (truth 3.94), LS3 smeared Z=4.89 (truth 7.29); 2deg vs 8deg binning agree to &lt;1%; a best single theta-window cut-and-count gives ~2.5 / 4.7 sigma (the broad shoulder makes counting nearly as good as the full fit). CRITICAL CAVEAT (the red box): these assume the IPC angular shape equals MC truth. Not included: physics shape uncertainty (single-E1 assumption), and — emphasised by D.N. — detector / acceptance shape distortion: track-pair separation inefficiency at small opening angle, and active-area geometric acceptance falling off for wide-angle pairs (the signal region). These reshape the IPC template where the signal sits and will dominate the final CL. Do not quote these as a final confidence level.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Wrap-up. The program is now an acceptance-and-backgrounds problem, not a production one. Next analysis step: wire the smeared templates into the fast-MC likelihood fit and quote expected significance vs run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versions of the slide 4 (July) and slide 5 (July vs LS3) stacked opening-angle spectra, rebinned by a factor of 4 (2 deg -&gt; 8 deg bins) per collaborator request. Identical event samples, yields and normalisation as the main slides; only the histogram binning differs. 90 base bins are not divisible by 4, so the final 176-180 deg bin holds the 2 leftover base bins (negligible -- the distribution is empty there). Figures: scripts/make_slides_figures.py (rebin=4).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rebinned (x4) twin of slide 4. Same recorded yields (64 X17 / 3093 IPC, S/B 0.021); only the display binning is coarser. Use to answer the collaborator's rebinning request; do not read a confidence level off the binning -- that comes from the template-fit / counting analysis (see notes).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rebinned (x4) twin of slide 5 (fig_stacked_compare_rebin4). Identical to slide 5 apart from the 8 deg display binning.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011680"/>
            <a:ext cx="12191695" cy="265176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0"/>
            <a:ext cx="10698480" cy="1280160"/>
          </a:xfrm>
          <a:prstGeom prst="rect">
            <a:avLst/>
          </a:prstGeom>
          <a:noFill/>
        </p:spPr>
        <p:txBody>
          <a:bodyPr wrap="square" anchor="t">
            <a:spAutoFit/>
          </a:bodyPr>
          <a:lstStyle/>
          <a:p>
            <a:pPr algn="l">
              <a:lnSpc>
                <a:spcPct val="105000"/>
              </a:lnSpc>
            </a:pPr>
            <a:r>
              <a:rPr sz="4200" b="1">
                <a:solidFill>
                  <a:srgbClr val="FFFFFF"/>
                </a:solidFill>
              </a:rPr>
              <a:t>The X17 search at n_TOF EAR2</a:t>
            </a:r>
          </a:p>
        </p:txBody>
      </p:sp>
      <p:sp>
        <p:nvSpPr>
          <p:cNvPr id="4" name="TextBox 3"/>
          <p:cNvSpPr txBox="1"/>
          <p:nvPr/>
        </p:nvSpPr>
        <p:spPr>
          <a:xfrm>
            <a:off x="731520" y="3383280"/>
            <a:ext cx="10698480" cy="914400"/>
          </a:xfrm>
          <a:prstGeom prst="rect">
            <a:avLst/>
          </a:prstGeom>
          <a:noFill/>
        </p:spPr>
        <p:txBody>
          <a:bodyPr wrap="square" anchor="t">
            <a:spAutoFit/>
          </a:bodyPr>
          <a:lstStyle/>
          <a:p>
            <a:pPr algn="l">
              <a:lnSpc>
                <a:spcPct val="105000"/>
              </a:lnSpc>
            </a:pPr>
            <a:r>
              <a:rPr sz="1900" b="0">
                <a:solidFill>
                  <a:srgbClr val="D7E3F4"/>
                </a:solidFill>
              </a:rPr>
              <a:t>Full Geant4 simulation: production, acceptance, and the path to a measurement
Final July setup  ·  expected results  ·  the post-LS3 upgrade</a:t>
            </a:r>
          </a:p>
        </p:txBody>
      </p:sp>
      <p:sp>
        <p:nvSpPr>
          <p:cNvPr id="5" name="TextBox 4"/>
          <p:cNvSpPr txBox="1"/>
          <p:nvPr/>
        </p:nvSpPr>
        <p:spPr>
          <a:xfrm>
            <a:off x="731520" y="4937760"/>
            <a:ext cx="10698480" cy="548640"/>
          </a:xfrm>
          <a:prstGeom prst="rect">
            <a:avLst/>
          </a:prstGeom>
          <a:noFill/>
        </p:spPr>
        <p:txBody>
          <a:bodyPr wrap="square" anchor="t">
            <a:spAutoFit/>
          </a:bodyPr>
          <a:lstStyle/>
          <a:p>
            <a:pPr algn="l">
              <a:lnSpc>
                <a:spcPct val="105000"/>
              </a:lnSpc>
            </a:pPr>
            <a:r>
              <a:rPr sz="1400" b="0">
                <a:solidFill>
                  <a:srgbClr val="555555"/>
                </a:solidFill>
              </a:rPr>
              <a:t>D. Neff — 16 June 2026   |   simulation + analysis: this repository (MX17_Full_Geant)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The experiment: a 4-arm e⁺ e⁻ pair spectrometer</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³He(n,γ)⁴He* → (X17 or IPC) → e⁺ e⁻ ; measure the opening angle in 4 Micromegas + scintillator arms</a:t>
            </a:r>
          </a:p>
        </p:txBody>
      </p:sp>
      <p:pic>
        <p:nvPicPr>
          <p:cNvPr id="5" name="Picture 4" descr="mx17_geometry_topdown.png"/>
          <p:cNvPicPr>
            <a:picLocks noChangeAspect="1"/>
          </p:cNvPicPr>
          <p:nvPr/>
        </p:nvPicPr>
        <p:blipFill>
          <a:blip r:embed="rId2"/>
          <a:stretch>
            <a:fillRect/>
          </a:stretch>
        </p:blipFill>
        <p:spPr>
          <a:xfrm>
            <a:off x="1113398" y="1417320"/>
            <a:ext cx="5088403" cy="5212080"/>
          </a:xfrm>
          <a:prstGeom prst="rect">
            <a:avLst/>
          </a:prstGeom>
        </p:spPr>
      </p:pic>
      <p:sp>
        <p:nvSpPr>
          <p:cNvPr id="6" name="TextBox 5"/>
          <p:cNvSpPr txBox="1"/>
          <p:nvPr/>
        </p:nvSpPr>
        <p:spPr>
          <a:xfrm>
            <a:off x="7223760" y="1554480"/>
            <a:ext cx="4663440" cy="4846320"/>
          </a:xfrm>
          <a:prstGeom prst="rect">
            <a:avLst/>
          </a:prstGeom>
          <a:noFill/>
        </p:spPr>
        <p:txBody>
          <a:bodyPr wrap="square" anchor="t">
            <a:spAutoFit/>
          </a:bodyPr>
          <a:lstStyle/>
          <a:p>
            <a:pPr algn="l">
              <a:lnSpc>
                <a:spcPct val="105000"/>
              </a:lnSpc>
            </a:pPr>
            <a:r>
              <a:rPr sz="1800" b="1">
                <a:solidFill>
                  <a:srgbClr val="1F3A5F"/>
                </a:solidFill>
              </a:rPr>
              <a:t>Target</a:t>
            </a:r>
          </a:p>
          <a:p>
            <a:pPr algn="l">
              <a:lnSpc>
                <a:spcPct val="105000"/>
              </a:lnSpc>
            </a:pPr>
            <a:r>
              <a:rPr sz="1500" b="0">
                <a:solidFill>
                  <a:srgbClr val="555555"/>
                </a:solidFill>
              </a:rPr>
              <a:t>³He gas capsule, 500 bar, r = 10 mm, 60 mm on axis; thin Al (0.6 mm) + CFRP (0.9 mm) wall.</a:t>
            </a:r>
          </a:p>
          <a:p>
            <a:pPr algn="l">
              <a:lnSpc>
                <a:spcPct val="105000"/>
              </a:lnSpc>
              <a:spcBef>
                <a:spcPts val="800"/>
              </a:spcBef>
            </a:pPr>
            <a:r>
              <a:rPr sz="1800" b="1">
                <a:solidFill>
                  <a:srgbClr val="1F3A5F"/>
                </a:solidFill>
              </a:rPr>
              <a:t>Tracking</a:t>
            </a:r>
          </a:p>
          <a:p>
            <a:pPr algn="l">
              <a:lnSpc>
                <a:spcPct val="105000"/>
              </a:lnSpc>
            </a:pPr>
            <a:r>
              <a:rPr sz="1500" b="0">
                <a:solidFill>
                  <a:srgbClr val="555555"/>
                </a:solidFill>
              </a:rPr>
              <a:t>4 Micromegas arms, front face ≈ 25 cm from the target, 30 mm drift gap — the e⁺ e⁻ directions.</a:t>
            </a:r>
          </a:p>
          <a:p>
            <a:pPr algn="l">
              <a:lnSpc>
                <a:spcPct val="105000"/>
              </a:lnSpc>
              <a:spcBef>
                <a:spcPts val="800"/>
              </a:spcBef>
            </a:pPr>
            <a:r>
              <a:rPr sz="1800" b="1">
                <a:solidFill>
                  <a:srgbClr val="1F3A5F"/>
                </a:solidFill>
              </a:rPr>
              <a:t>Calorimetry / trigger</a:t>
            </a:r>
          </a:p>
          <a:p>
            <a:pPr algn="l">
              <a:lnSpc>
                <a:spcPct val="105000"/>
              </a:lnSpc>
            </a:pPr>
            <a:r>
              <a:rPr sz="1500" b="0">
                <a:solidFill>
                  <a:srgbClr val="555555"/>
                </a:solidFill>
              </a:rPr>
              <a:t>Liquid-scintillator + plastic layers per arm (assumed saturated/unusable for the high-energy measurement — tracking-only baseline).</a:t>
            </a:r>
          </a:p>
          <a:p>
            <a:pPr algn="l">
              <a:lnSpc>
                <a:spcPct val="105000"/>
              </a:lnSpc>
              <a:spcBef>
                <a:spcPts val="800"/>
              </a:spcBef>
            </a:pPr>
            <a:r>
              <a:rPr sz="1800" b="1">
                <a:solidFill>
                  <a:srgbClr val="1F3A5F"/>
                </a:solidFill>
              </a:rPr>
              <a:t>The observable</a:t>
            </a:r>
          </a:p>
          <a:p>
            <a:pPr algn="l">
              <a:lnSpc>
                <a:spcPct val="105000"/>
              </a:lnSpc>
            </a:pPr>
            <a:r>
              <a:rPr sz="1500" b="0">
                <a:solidFill>
                  <a:srgbClr val="555555"/>
                </a:solidFill>
              </a:rPr>
              <a:t>X17 (m ≈ 17 MeV) makes a sharp opening-angle shoulder at θ ≈ 109°; the IPC continuum is the irreducible background.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Production is settled — and it lives at MeV energies</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Directly counted ³He(n,γ) from 5×10⁸ neutrons; the γ-flash sets the high-energy reach</a:t>
            </a:r>
          </a:p>
        </p:txBody>
      </p:sp>
      <p:pic>
        <p:nvPicPr>
          <p:cNvPr id="5" name="Picture 4" descr="fig_production_windows.png"/>
          <p:cNvPicPr>
            <a:picLocks noChangeAspect="1"/>
          </p:cNvPicPr>
          <p:nvPr/>
        </p:nvPicPr>
        <p:blipFill>
          <a:blip r:embed="rId2"/>
          <a:stretch>
            <a:fillRect/>
          </a:stretch>
        </p:blipFill>
        <p:spPr>
          <a:xfrm>
            <a:off x="274320" y="1869656"/>
            <a:ext cx="7498079" cy="4307407"/>
          </a:xfrm>
          <a:prstGeom prst="rect">
            <a:avLst/>
          </a:prstGeom>
        </p:spPr>
      </p:pic>
      <p:sp>
        <p:nvSpPr>
          <p:cNvPr id="6" name="TextBox 5"/>
          <p:cNvSpPr txBox="1"/>
          <p:nvPr/>
        </p:nvSpPr>
        <p:spPr>
          <a:xfrm>
            <a:off x="7955279" y="1554480"/>
            <a:ext cx="4023360" cy="4937760"/>
          </a:xfrm>
          <a:prstGeom prst="rect">
            <a:avLst/>
          </a:prstGeom>
          <a:noFill/>
        </p:spPr>
        <p:txBody>
          <a:bodyPr wrap="square" anchor="t">
            <a:spAutoFit/>
          </a:bodyPr>
          <a:lstStyle/>
          <a:p>
            <a:pPr algn="l">
              <a:lnSpc>
                <a:spcPct val="105000"/>
              </a:lnSpc>
            </a:pPr>
            <a:r>
              <a:rPr sz="1600" b="1">
                <a:solidFill>
                  <a:srgbClr val="B02020"/>
                </a:solidFill>
              </a:rPr>
              <a:t>Sub-keV is dead.</a:t>
            </a:r>
          </a:p>
          <a:p>
            <a:pPr algn="l">
              <a:lnSpc>
                <a:spcPct val="105000"/>
              </a:lnSpc>
            </a:pPr>
            <a:r>
              <a:rPr sz="1400" b="0">
                <a:solidFill>
                  <a:srgbClr val="555555"/>
                </a:solidFill>
              </a:rPr>
              <a:t>The gas is opaque to (n,p); radiative capture is capped at σₙγ/σₙₚ ≈ 10⁻⁸ → ~0.1 X17/day.</a:t>
            </a:r>
          </a:p>
          <a:p>
            <a:pPr algn="l">
              <a:lnSpc>
                <a:spcPct val="105000"/>
              </a:lnSpc>
              <a:spcBef>
                <a:spcPts val="1000"/>
              </a:spcBef>
            </a:pPr>
            <a:r>
              <a:rPr sz="1600" b="1">
                <a:solidFill>
                  <a:srgbClr val="1F3A5F"/>
                </a:solidFill>
              </a:rPr>
              <a:t>The MeV window is the measurement.</a:t>
            </a:r>
          </a:p>
          <a:p>
            <a:pPr algn="l">
              <a:lnSpc>
                <a:spcPct val="105000"/>
              </a:lnSpc>
            </a:pPr>
            <a:r>
              <a:rPr sz="1400" b="0">
                <a:solidFill>
                  <a:srgbClr val="555555"/>
                </a:solidFill>
              </a:rPr>
              <a:t>Above ~100 keV the gas is thin and the rate table is confirmed by Geant4 (within 10–70%). ~33 X17/day produced over the full range.</a:t>
            </a:r>
          </a:p>
          <a:p>
            <a:pPr algn="l">
              <a:lnSpc>
                <a:spcPct val="105000"/>
              </a:lnSpc>
              <a:spcBef>
                <a:spcPts val="1000"/>
              </a:spcBef>
            </a:pPr>
            <a:r>
              <a:rPr sz="1600" b="1">
                <a:solidFill>
                  <a:srgbClr val="1F3A5F"/>
                </a:solidFill>
              </a:rPr>
              <a:t>The γ-flash limits the reach.</a:t>
            </a:r>
          </a:p>
          <a:p>
            <a:pPr algn="l">
              <a:lnSpc>
                <a:spcPct val="105000"/>
              </a:lnSpc>
            </a:pPr>
            <a:r>
              <a:rPr sz="1400" b="0">
                <a:solidFill>
                  <a:srgbClr val="555555"/>
                </a:solidFill>
              </a:rPr>
              <a:t>Faster neutrons arrive sooner, closer to the flash. How early the detectors recover sets the max neutron energy — this is the LS3 lever.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July run: expected result (optimistic scenario)</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Window 0.2–0.7 MeV — conservative γ-flash recovery (detectors usable by ≈ 1.7 µs); 30-day run</a:t>
            </a:r>
          </a:p>
        </p:txBody>
      </p:sp>
      <p:pic>
        <p:nvPicPr>
          <p:cNvPr id="5" name="Picture 4" descr="fig_stacked_july.png"/>
          <p:cNvPicPr>
            <a:picLocks noChangeAspect="1"/>
          </p:cNvPicPr>
          <p:nvPr/>
        </p:nvPicPr>
        <p:blipFill>
          <a:blip r:embed="rId2"/>
          <a:stretch>
            <a:fillRect/>
          </a:stretch>
        </p:blipFill>
        <p:spPr>
          <a:xfrm>
            <a:off x="656409" y="1371600"/>
            <a:ext cx="6459582" cy="4206240"/>
          </a:xfrm>
          <a:prstGeom prst="rect">
            <a:avLst/>
          </a:prstGeom>
        </p:spPr>
      </p:pic>
      <p:sp>
        <p:nvSpPr>
          <p:cNvPr id="6" name="TextBox 5"/>
          <p:cNvSpPr txBox="1"/>
          <p:nvPr/>
        </p:nvSpPr>
        <p:spPr>
          <a:xfrm>
            <a:off x="7680960" y="1463040"/>
            <a:ext cx="4297680" cy="3017520"/>
          </a:xfrm>
          <a:prstGeom prst="rect">
            <a:avLst/>
          </a:prstGeom>
          <a:noFill/>
        </p:spPr>
        <p:txBody>
          <a:bodyPr wrap="square" anchor="t">
            <a:spAutoFit/>
          </a:bodyPr>
          <a:lstStyle/>
          <a:p>
            <a:pPr algn="l">
              <a:lnSpc>
                <a:spcPct val="105000"/>
              </a:lnSpc>
            </a:pPr>
            <a:r>
              <a:rPr sz="2000" b="1">
                <a:solidFill>
                  <a:srgbClr val="1F3A5F"/>
                </a:solidFill>
              </a:rPr>
              <a:t>≈ 64 X17 on ≈ 3 100 IPC</a:t>
            </a:r>
          </a:p>
          <a:p>
            <a:pPr algn="l">
              <a:lnSpc>
                <a:spcPct val="105000"/>
              </a:lnSpc>
            </a:pPr>
            <a:r>
              <a:rPr sz="1400" b="0">
                <a:solidFill>
                  <a:srgbClr val="555555"/>
                </a:solidFill>
              </a:rPr>
              <a:t>recorded in 30 days (S/B ≈ 0.021).</a:t>
            </a:r>
          </a:p>
          <a:p>
            <a:pPr algn="l">
              <a:lnSpc>
                <a:spcPct val="105000"/>
              </a:lnSpc>
              <a:spcBef>
                <a:spcPts val="800"/>
              </a:spcBef>
            </a:pPr>
            <a:r>
              <a:rPr sz="1500" b="1">
                <a:solidFill>
                  <a:srgbClr val="B02020"/>
                </a:solidFill>
              </a:rPr>
              <a:t>The peak is diluted, not visible by eye.</a:t>
            </a:r>
          </a:p>
          <a:p>
            <a:pPr algn="l">
              <a:lnSpc>
                <a:spcPct val="105000"/>
              </a:lnSpc>
            </a:pPr>
            <a:r>
              <a:rPr sz="1400" b="0">
                <a:solidFill>
                  <a:srgbClr val="555555"/>
                </a:solidFill>
              </a:rPr>
              <a:t>Capsule multiple scattering smears θ by σ68 ≈ 14°; the 109° shoulder (green dotted = truth) becomes a broad bump. The measurement is a template fit, not a cut-and-count.</a:t>
            </a:r>
          </a:p>
        </p:txBody>
      </p:sp>
      <p:sp>
        <p:nvSpPr>
          <p:cNvPr id="7" name="Rectangle 6"/>
          <p:cNvSpPr/>
          <p:nvPr/>
        </p:nvSpPr>
        <p:spPr>
          <a:xfrm>
            <a:off x="365760" y="5715000"/>
            <a:ext cx="11430000" cy="960120"/>
          </a:xfrm>
          <a:prstGeom prst="rect">
            <a:avLst/>
          </a:prstGeom>
          <a:solidFill>
            <a:srgbClr val="FFF4D6"/>
          </a:solidFill>
          <a:ln w="12700">
            <a:solidFill>
              <a:srgbClr val="D0A030"/>
            </a:solidFill>
          </a:ln>
        </p:spPr>
        <p:style>
          <a:lnRef idx="1">
            <a:schemeClr val="accent1"/>
          </a:lnRef>
          <a:fillRef idx="3">
            <a:schemeClr val="accent1"/>
          </a:fillRef>
          <a:effectRef idx="2">
            <a:schemeClr val="accent1"/>
          </a:effectRef>
          <a:fontRef idx="minor">
            <a:schemeClr val="lt1"/>
          </a:fontRef>
        </p:style>
        <p:txBody>
          <a:bodyPr rtlCol="0" anchor="ctr" wrap="square" lIns="101600" rIns="101600" tIns="63500"/>
          <a:lstStyle/>
          <a:p>
            <a:pPr algn="ctr"/>
            <a:r>
              <a:rPr sz="1100" b="1">
                <a:solidFill>
                  <a:srgbClr val="8A6D10"/>
                </a:solidFill>
              </a:rPr>
              <a:t>Caveats / assumptions (separate box — delete before INFN if desired)</a:t>
            </a:r>
          </a:p>
          <a:p>
            <a:pPr>
              <a:lnSpc>
                <a:spcPct val="100000"/>
              </a:lnSpc>
            </a:pPr>
            <a:r>
              <a:rPr sz="1100">
                <a:solidFill>
                  <a:srgbClr val="6B5510"/>
                </a:solidFill>
              </a:rPr>
              <a:t>•  Optimistic: best-estimator (target-centre chord) smearing; no pile-up, no γ-flash losses, no θ-dependent MM acceptance shaping.</a:t>
            </a:r>
          </a:p>
          <a:p>
            <a:pPr>
              <a:lnSpc>
                <a:spcPct val="100000"/>
              </a:lnSpc>
            </a:pPr>
            <a:r>
              <a:rPr sz="1100">
                <a:solidFill>
                  <a:srgbClr val="6B5510"/>
                </a:solidFill>
              </a:rPr>
              <a:t>•  α_IPC = 3.5×10⁻³ (¹²C/⁸Be-anchored) and X17/IPC = 2.5% are assumed inputs (provenance pending). Table α = 2.1×10⁻³ would scale signal ×0.6 (→ ~38 X17).</a:t>
            </a:r>
          </a:p>
          <a:p>
            <a:pPr>
              <a:lnSpc>
                <a:spcPct val="100000"/>
              </a:lnSpc>
            </a:pPr>
            <a:r>
              <a:rPr sz="1100">
                <a:solidFill>
                  <a:srgbClr val="6B5510"/>
                </a:solidFill>
              </a:rPr>
              <a:t>•  At-rest kinematics (shoulder shifts a few degrees with the Eₙ boost). MM-double acceptance 19.6% (X17) / 23.6% (IPC).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After LS3: extend the reach to 2 MeV neutrons</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Faster γ-flash recovery (≈ 1.0 µs) → window 0.2–2 MeV; same analysis, ×3.4 the statistics</a:t>
            </a:r>
          </a:p>
        </p:txBody>
      </p:sp>
      <p:pic>
        <p:nvPicPr>
          <p:cNvPr id="5" name="Picture 4" descr="fig_stacked_compare.png"/>
          <p:cNvPicPr>
            <a:picLocks noChangeAspect="1"/>
          </p:cNvPicPr>
          <p:nvPr/>
        </p:nvPicPr>
        <p:blipFill>
          <a:blip r:embed="rId2"/>
          <a:stretch>
            <a:fillRect/>
          </a:stretch>
        </p:blipFill>
        <p:spPr>
          <a:xfrm>
            <a:off x="423913" y="1463040"/>
            <a:ext cx="11313694" cy="4160520"/>
          </a:xfrm>
          <a:prstGeom prst="rect">
            <a:avLst/>
          </a:prstGeom>
        </p:spPr>
      </p:pic>
      <p:sp>
        <p:nvSpPr>
          <p:cNvPr id="6" name="TextBox 5"/>
          <p:cNvSpPr txBox="1"/>
          <p:nvPr/>
        </p:nvSpPr>
        <p:spPr>
          <a:xfrm>
            <a:off x="457200" y="5669280"/>
            <a:ext cx="11338560" cy="1005840"/>
          </a:xfrm>
          <a:prstGeom prst="rect">
            <a:avLst/>
          </a:prstGeom>
          <a:noFill/>
        </p:spPr>
        <p:txBody>
          <a:bodyPr wrap="square" anchor="t">
            <a:spAutoFit/>
          </a:bodyPr>
          <a:lstStyle/>
          <a:p>
            <a:pPr algn="l">
              <a:lnSpc>
                <a:spcPct val="105000"/>
              </a:lnSpc>
            </a:pPr>
            <a:r>
              <a:rPr sz="1700" b="1">
                <a:solidFill>
                  <a:srgbClr val="1F3A5F"/>
                </a:solidFill>
              </a:rPr>
              <a:t>July 64 X17 → post-LS3 220 X17 recorded (30 d), on the same S/B ≈ 0.021.</a:t>
            </a:r>
          </a:p>
          <a:p>
            <a:pPr algn="l">
              <a:lnSpc>
                <a:spcPct val="105000"/>
              </a:lnSpc>
            </a:pPr>
            <a:r>
              <a:rPr sz="1400" b="0">
                <a:solidFill>
                  <a:srgbClr val="555555"/>
                </a:solidFill>
              </a:rPr>
              <a:t>Reaching 2 MeV neutrons (faster γ-flash recovery) adds the most productive energy decade. The spectrum shape is unchanged — the gain is purely statistical, which is exactly what a template fit converts into significance.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0"/>
            <a:ext cx="12191695" cy="13716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71800"/>
            <a:ext cx="10698480" cy="914400"/>
          </a:xfrm>
          <a:prstGeom prst="rect">
            <a:avLst/>
          </a:prstGeom>
          <a:noFill/>
        </p:spPr>
        <p:txBody>
          <a:bodyPr wrap="square" anchor="t">
            <a:spAutoFit/>
          </a:bodyPr>
          <a:lstStyle/>
          <a:p>
            <a:pPr algn="l">
              <a:lnSpc>
                <a:spcPct val="105000"/>
              </a:lnSpc>
            </a:pPr>
            <a:r>
              <a:rPr sz="3600" b="1">
                <a:solidFill>
                  <a:srgbClr val="FFFFFF"/>
                </a:solidFill>
              </a:rPr>
              <a:t>Supporting results</a:t>
            </a:r>
          </a:p>
        </p:txBody>
      </p:sp>
      <p:sp>
        <p:nvSpPr>
          <p:cNvPr id="4" name="TextBox 3"/>
          <p:cNvSpPr txBox="1"/>
          <p:nvPr/>
        </p:nvSpPr>
        <p:spPr>
          <a:xfrm>
            <a:off x="731520" y="4297680"/>
            <a:ext cx="10698480" cy="548640"/>
          </a:xfrm>
          <a:prstGeom prst="rect">
            <a:avLst/>
          </a:prstGeom>
          <a:noFill/>
        </p:spPr>
        <p:txBody>
          <a:bodyPr wrap="square" anchor="t">
            <a:spAutoFit/>
          </a:bodyPr>
          <a:lstStyle/>
          <a:p>
            <a:pPr algn="l">
              <a:lnSpc>
                <a:spcPct val="105000"/>
              </a:lnSpc>
            </a:pPr>
            <a:r>
              <a:rPr sz="1600" b="0">
                <a:solidFill>
                  <a:srgbClr val="555555"/>
                </a:solidFill>
              </a:rPr>
              <a:t>Production budget · the angular-resolution floor · the analysis strategy · the γ-dark E0 channel · backgrounds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Detector geometry — side view and 3D</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Companion views to the top-down layout: the ³He capsule shape, beam-end-on incidence, and the full 4-arm arrangement</a:t>
            </a:r>
          </a:p>
        </p:txBody>
      </p:sp>
      <p:pic>
        <p:nvPicPr>
          <p:cNvPr id="5" name="Picture 4" descr="mx17_geometry_sideview.png"/>
          <p:cNvPicPr>
            <a:picLocks noChangeAspect="1"/>
          </p:cNvPicPr>
          <p:nvPr/>
        </p:nvPicPr>
        <p:blipFill>
          <a:blip r:embed="rId2"/>
          <a:stretch>
            <a:fillRect/>
          </a:stretch>
        </p:blipFill>
        <p:spPr>
          <a:xfrm>
            <a:off x="228600" y="1557462"/>
            <a:ext cx="6492240" cy="4657476"/>
          </a:xfrm>
          <a:prstGeom prst="rect">
            <a:avLst/>
          </a:prstGeom>
        </p:spPr>
      </p:pic>
      <p:pic>
        <p:nvPicPr>
          <p:cNvPr id="6" name="Picture 5" descr="mx17_geometry_3d.png"/>
          <p:cNvPicPr>
            <a:picLocks noChangeAspect="1"/>
          </p:cNvPicPr>
          <p:nvPr/>
        </p:nvPicPr>
        <p:blipFill>
          <a:blip r:embed="rId3"/>
          <a:stretch>
            <a:fillRect/>
          </a:stretch>
        </p:blipFill>
        <p:spPr>
          <a:xfrm>
            <a:off x="6858000" y="1965960"/>
            <a:ext cx="5120640" cy="3840480"/>
          </a:xfrm>
          <a:prstGeom prst="rect">
            <a:avLst/>
          </a:prstGeom>
        </p:spPr>
      </p:pic>
      <p:sp>
        <p:nvSpPr>
          <p:cNvPr id="7" name="TextBox 6"/>
          <p:cNvSpPr txBox="1"/>
          <p:nvPr/>
        </p:nvSpPr>
        <p:spPr>
          <a:xfrm>
            <a:off x="365760" y="6400800"/>
            <a:ext cx="6126480" cy="365760"/>
          </a:xfrm>
          <a:prstGeom prst="rect">
            <a:avLst/>
          </a:prstGeom>
          <a:noFill/>
        </p:spPr>
        <p:txBody>
          <a:bodyPr wrap="square" anchor="t">
            <a:spAutoFit/>
          </a:bodyPr>
          <a:lstStyle/>
          <a:p>
            <a:pPr algn="l">
              <a:lnSpc>
                <a:spcPct val="105000"/>
              </a:lnSpc>
            </a:pPr>
            <a:r>
              <a:rPr sz="1200" b="0">
                <a:solidFill>
                  <a:srgbClr val="555555"/>
                </a:solidFill>
              </a:rPr>
              <a:t>Side view (XY): beam enters end-on along +Y into the capsule; arms 0/1 (±X) shown.</a:t>
            </a:r>
          </a:p>
        </p:txBody>
      </p:sp>
      <p:sp>
        <p:nvSpPr>
          <p:cNvPr id="8" name="TextBox 7"/>
          <p:cNvSpPr txBox="1"/>
          <p:nvPr/>
        </p:nvSpPr>
        <p:spPr>
          <a:xfrm>
            <a:off x="6858000" y="6400800"/>
            <a:ext cx="5120640" cy="365760"/>
          </a:xfrm>
          <a:prstGeom prst="rect">
            <a:avLst/>
          </a:prstGeom>
          <a:noFill/>
        </p:spPr>
        <p:txBody>
          <a:bodyPr wrap="square" anchor="t">
            <a:spAutoFit/>
          </a:bodyPr>
          <a:lstStyle/>
          <a:p>
            <a:pPr algn="l">
              <a:lnSpc>
                <a:spcPct val="105000"/>
              </a:lnSpc>
            </a:pPr>
            <a:r>
              <a:rPr sz="1200" b="0">
                <a:solidFill>
                  <a:srgbClr val="555555"/>
                </a:solidFill>
              </a:rPr>
              <a:t>3D: 4 arms (±X, ±Z), each MM + scintillator stack around the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The angular resolution is hardware-frozen</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Opening-angle resolution is set by multiple scattering in the capsule wall — no reconstruction can beat it</a:t>
            </a:r>
          </a:p>
        </p:txBody>
      </p:sp>
      <p:pic>
        <p:nvPicPr>
          <p:cNvPr id="5" name="Picture 4" descr="fig_ms_budget.png"/>
          <p:cNvPicPr>
            <a:picLocks noChangeAspect="1"/>
          </p:cNvPicPr>
          <p:nvPr/>
        </p:nvPicPr>
        <p:blipFill>
          <a:blip r:embed="rId2"/>
          <a:stretch>
            <a:fillRect/>
          </a:stretch>
        </p:blipFill>
        <p:spPr>
          <a:xfrm>
            <a:off x="274320" y="2124456"/>
            <a:ext cx="6949440" cy="3706368"/>
          </a:xfrm>
          <a:prstGeom prst="rect">
            <a:avLst/>
          </a:prstGeom>
        </p:spPr>
      </p:pic>
      <p:sp>
        <p:nvSpPr>
          <p:cNvPr id="6" name="TextBox 5"/>
          <p:cNvSpPr txBox="1"/>
          <p:nvPr/>
        </p:nvSpPr>
        <p:spPr>
          <a:xfrm>
            <a:off x="7406640" y="1554480"/>
            <a:ext cx="4480560" cy="4937760"/>
          </a:xfrm>
          <a:prstGeom prst="rect">
            <a:avLst/>
          </a:prstGeom>
          <a:noFill/>
        </p:spPr>
        <p:txBody>
          <a:bodyPr wrap="square" anchor="t">
            <a:spAutoFit/>
          </a:bodyPr>
          <a:lstStyle/>
          <a:p>
            <a:pPr algn="l">
              <a:lnSpc>
                <a:spcPct val="105000"/>
              </a:lnSpc>
            </a:pPr>
            <a:r>
              <a:rPr sz="2600" b="1">
                <a:solidFill>
                  <a:srgbClr val="1F3A5F"/>
                </a:solidFill>
              </a:rPr>
              <a:t>σ68(Δθ) ≈ 14.5°</a:t>
            </a:r>
          </a:p>
          <a:p>
            <a:pPr algn="l">
              <a:lnSpc>
                <a:spcPct val="105000"/>
              </a:lnSpc>
            </a:pPr>
            <a:r>
              <a:rPr sz="1400" b="0">
                <a:solidFill>
                  <a:srgbClr val="555555"/>
                </a:solidFill>
              </a:rPr>
              <a:t>full accepted spectrum (≈ 11.5–12.5° for symmetric pairs), even assuming a perfect vertex.</a:t>
            </a:r>
          </a:p>
          <a:p>
            <a:pPr algn="l">
              <a:lnSpc>
                <a:spcPct val="105000"/>
              </a:lnSpc>
              <a:spcBef>
                <a:spcPts val="1000"/>
              </a:spcBef>
            </a:pPr>
            <a:r>
              <a:rPr sz="1600" b="1">
                <a:solidFill>
                  <a:srgbClr val="1F3A5F"/>
                </a:solidFill>
              </a:rPr>
              <a:t>Why:</a:t>
            </a:r>
          </a:p>
          <a:p>
            <a:pPr algn="l">
              <a:lnSpc>
                <a:spcPct val="105000"/>
              </a:lnSpc>
            </a:pPr>
            <a:r>
              <a:rPr sz="1400" b="0">
                <a:solidFill>
                  <a:srgbClr val="555555"/>
                </a:solidFill>
              </a:rPr>
              <a:t>The 0.6 mm Al + 0.9 mm CFRP wall (~11 mm from the vertex) is 79% of the material budget. A scatter that early rotates the whole visible track.</a:t>
            </a:r>
          </a:p>
          <a:p>
            <a:pPr algn="l">
              <a:lnSpc>
                <a:spcPct val="105000"/>
              </a:lnSpc>
              <a:spcBef>
                <a:spcPts val="1000"/>
              </a:spcBef>
            </a:pPr>
            <a:r>
              <a:rPr sz="1600" b="1">
                <a:solidFill>
                  <a:srgbClr val="B02020"/>
                </a:solidFill>
              </a:rPr>
              <a:t>Verdict:</a:t>
            </a:r>
          </a:p>
          <a:p>
            <a:pPr algn="l">
              <a:lnSpc>
                <a:spcPct val="105000"/>
              </a:lnSpc>
            </a:pPr>
            <a:r>
              <a:rPr sz="1400" b="0">
                <a:solidFill>
                  <a:srgbClr val="555555"/>
                </a:solidFill>
              </a:rPr>
              <a:t>All 7 reconstruction methods land within 2° of each other. The only hardware lever is an all-composite vessel (→ ~10°). The recovery path is statistical: fit the shape.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Why the analysis is a template fit, not a peak cut</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Truth → stacked on IPC → both smeared: the shoulder washes out, but its shape is known to ~1% from 10⁷ simulated pairs</a:t>
            </a:r>
          </a:p>
        </p:txBody>
      </p:sp>
      <p:pic>
        <p:nvPicPr>
          <p:cNvPr id="5" name="Picture 4" descr="fig_theta_money.png"/>
          <p:cNvPicPr>
            <a:picLocks noChangeAspect="1"/>
          </p:cNvPicPr>
          <p:nvPr/>
        </p:nvPicPr>
        <p:blipFill>
          <a:blip r:embed="rId2"/>
          <a:stretch>
            <a:fillRect/>
          </a:stretch>
        </p:blipFill>
        <p:spPr>
          <a:xfrm>
            <a:off x="228600" y="1689146"/>
            <a:ext cx="11750040" cy="3845467"/>
          </a:xfrm>
          <a:prstGeom prst="rect">
            <a:avLst/>
          </a:prstGeom>
        </p:spPr>
      </p:pic>
      <p:sp>
        <p:nvSpPr>
          <p:cNvPr id="6" name="TextBox 5"/>
          <p:cNvSpPr txBox="1"/>
          <p:nvPr/>
        </p:nvSpPr>
        <p:spPr>
          <a:xfrm>
            <a:off x="457200" y="5806440"/>
            <a:ext cx="11338560" cy="868680"/>
          </a:xfrm>
          <a:prstGeom prst="rect">
            <a:avLst/>
          </a:prstGeom>
          <a:noFill/>
        </p:spPr>
        <p:txBody>
          <a:bodyPr wrap="square" anchor="t">
            <a:spAutoFit/>
          </a:bodyPr>
          <a:lstStyle/>
          <a:p>
            <a:pPr algn="l">
              <a:lnSpc>
                <a:spcPct val="105000"/>
              </a:lnSpc>
            </a:pPr>
            <a:r>
              <a:rPr sz="1400" b="0">
                <a:solidFill>
                  <a:srgbClr val="555555"/>
                </a:solidFill>
              </a:rPr>
              <a:t>Cut-and-count on θ is dead (recorded S/B ≈ 0.02). What survives: a fit of the known smeared-signal template + the smooth IPC continuum, with resolution entering as dilution of statistical power rather than as a cliff. This is the natural go/no-go calculation.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Resolution is a soft-track problem</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σ68 vs pair symmetry, and the +bias (correctable in a response-matrix fit) — X17 is sharpest at its symmetric 109° shoulder</a:t>
            </a:r>
          </a:p>
        </p:txBody>
      </p:sp>
      <p:pic>
        <p:nvPicPr>
          <p:cNvPr id="5" name="Picture 4" descr="fig_sigma68_vs_minke.png"/>
          <p:cNvPicPr>
            <a:picLocks noChangeAspect="1"/>
          </p:cNvPicPr>
          <p:nvPr/>
        </p:nvPicPr>
        <p:blipFill>
          <a:blip r:embed="rId2"/>
          <a:stretch>
            <a:fillRect/>
          </a:stretch>
        </p:blipFill>
        <p:spPr>
          <a:xfrm>
            <a:off x="365760" y="1642403"/>
            <a:ext cx="11430000" cy="4396153"/>
          </a:xfrm>
          <a:prstGeom prst="rect">
            <a:avLst/>
          </a:prstGeom>
        </p:spPr>
      </p:pic>
      <p:sp>
        <p:nvSpPr>
          <p:cNvPr id="6" name="TextBox 5"/>
          <p:cNvSpPr txBox="1"/>
          <p:nvPr/>
        </p:nvSpPr>
        <p:spPr>
          <a:xfrm>
            <a:off x="457200" y="6172200"/>
            <a:ext cx="11338560" cy="502920"/>
          </a:xfrm>
          <a:prstGeom prst="rect">
            <a:avLst/>
          </a:prstGeom>
          <a:noFill/>
        </p:spPr>
        <p:txBody>
          <a:bodyPr wrap="square" anchor="t">
            <a:spAutoFit/>
          </a:bodyPr>
          <a:lstStyle/>
          <a:p>
            <a:pPr algn="l">
              <a:lnSpc>
                <a:spcPct val="105000"/>
              </a:lnSpc>
            </a:pPr>
            <a:r>
              <a:rPr sz="1400" b="0">
                <a:solidFill>
                  <a:srgbClr val="555555"/>
                </a:solidFill>
              </a:rPr>
              <a:t>Below ~3 MeV a leg is directionless after the wall (σ68 → 40°); above ~8 MeV it plateaus at ~12°. X17 is sharpest at its symmetric 109° shoulder — the good news.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The γ-dark E0 channel: completeness, not a game-changer</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0⁺→0⁺ captures make no photon but can make a massive X17 — yet the rate is tiny and sub-keV</a:t>
            </a:r>
          </a:p>
        </p:txBody>
      </p:sp>
      <p:pic>
        <p:nvPicPr>
          <p:cNvPr id="5" name="Picture 4" descr="fig_e0_final_metric.png"/>
          <p:cNvPicPr>
            <a:picLocks noChangeAspect="1"/>
          </p:cNvPicPr>
          <p:nvPr/>
        </p:nvPicPr>
        <p:blipFill>
          <a:blip r:embed="rId2"/>
          <a:stretch>
            <a:fillRect/>
          </a:stretch>
        </p:blipFill>
        <p:spPr>
          <a:xfrm>
            <a:off x="274320" y="2317209"/>
            <a:ext cx="7589520" cy="3229422"/>
          </a:xfrm>
          <a:prstGeom prst="rect">
            <a:avLst/>
          </a:prstGeom>
        </p:spPr>
      </p:pic>
      <p:sp>
        <p:nvSpPr>
          <p:cNvPr id="6" name="TextBox 5"/>
          <p:cNvSpPr txBox="1"/>
          <p:nvPr/>
        </p:nvSpPr>
        <p:spPr>
          <a:xfrm>
            <a:off x="7955279" y="1554480"/>
            <a:ext cx="4023360" cy="4937760"/>
          </a:xfrm>
          <a:prstGeom prst="rect">
            <a:avLst/>
          </a:prstGeom>
          <a:noFill/>
        </p:spPr>
        <p:txBody>
          <a:bodyPr wrap="square" anchor="t">
            <a:spAutoFit/>
          </a:bodyPr>
          <a:lstStyle/>
          <a:p>
            <a:pPr algn="l">
              <a:lnSpc>
                <a:spcPct val="105000"/>
              </a:lnSpc>
            </a:pPr>
            <a:r>
              <a:rPr sz="1600" b="1">
                <a:solidFill>
                  <a:srgbClr val="1F3A5F"/>
                </a:solidFill>
              </a:rPr>
              <a:t>E0 is real but small.</a:t>
            </a:r>
          </a:p>
          <a:p>
            <a:pPr algn="l">
              <a:lnSpc>
                <a:spcPct val="105000"/>
              </a:lnSpc>
            </a:pPr>
            <a:r>
              <a:rPr sz="1400" b="0">
                <a:solidFill>
                  <a:srgbClr val="555555"/>
                </a:solidFill>
              </a:rPr>
              <a:t>The 0⁺ doorway sits sub-keV, where the same 10⁻⁸ radiative branching that kills the thermal program applies — times f ≤ 10⁻².</a:t>
            </a:r>
          </a:p>
          <a:p>
            <a:pPr algn="l">
              <a:lnSpc>
                <a:spcPct val="105000"/>
              </a:lnSpc>
              <a:spcBef>
                <a:spcPts val="1000"/>
              </a:spcBef>
            </a:pPr>
            <a:r>
              <a:rPr sz="1600" b="1">
                <a:solidFill>
                  <a:srgbClr val="B02020"/>
                </a:solidFill>
              </a:rPr>
              <a:t>The flash readout cannot see it.</a:t>
            </a:r>
          </a:p>
          <a:p>
            <a:pPr algn="l">
              <a:lnSpc>
                <a:spcPct val="105000"/>
              </a:lnSpc>
            </a:pPr>
            <a:r>
              <a:rPr sz="1400" b="0">
                <a:solidFill>
                  <a:srgbClr val="555555"/>
                </a:solidFill>
              </a:rPr>
              <a:t>Sub-keV → TOF &gt; 45 µs → arrives after the window closes. Only a dedicated thermal trigger records it (≤ 0.06 X17/day).</a:t>
            </a:r>
          </a:p>
          <a:p>
            <a:pPr algn="l">
              <a:lnSpc>
                <a:spcPct val="105000"/>
              </a:lnSpc>
              <a:spcBef>
                <a:spcPts val="1000"/>
              </a:spcBef>
            </a:pPr>
            <a:r>
              <a:rPr sz="1600" b="1">
                <a:solidFill>
                  <a:srgbClr val="1F3A5F"/>
                </a:solidFill>
              </a:rPr>
              <a:t>So:</a:t>
            </a:r>
          </a:p>
          <a:p>
            <a:pPr algn="l">
              <a:lnSpc>
                <a:spcPct val="105000"/>
              </a:lnSpc>
            </a:pPr>
            <a:r>
              <a:rPr sz="1400" b="0">
                <a:solidFill>
                  <a:srgbClr val="555555"/>
                </a:solidFill>
              </a:rPr>
              <a:t>Leaving E0 out does not bias the baseline high-energy analysis. Worth adding to the generator for completeness only.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Expected significance — a statistical ceiling, not the final CL</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Profile-likelihood (template-fit) Asimov significance, with the IPC background shape &amp; normalisation taken as exactly known</a:t>
            </a:r>
          </a:p>
        </p:txBody>
      </p:sp>
      <p:graphicFrame>
        <p:nvGraphicFramePr>
          <p:cNvPr id="5" name="Table 4"/>
          <p:cNvGraphicFramePr>
            <a:graphicFrameLocks noGrp="1"/>
          </p:cNvGraphicFramePr>
          <p:nvPr/>
        </p:nvGraphicFramePr>
        <p:xfrm>
          <a:off x="457200" y="1371600"/>
          <a:ext cx="11247118" cy="1325880"/>
        </p:xfrm>
        <a:graphic>
          <a:graphicData uri="http://schemas.openxmlformats.org/drawingml/2006/table">
            <a:tbl>
              <a:tblPr firstRow="1" bandRow="1">
                <a:tableStyleId>{5C22544A-7EE6-4342-B048-85BDC9FD1C3A}</a:tableStyleId>
              </a:tblPr>
              <a:tblGrid>
                <a:gridCol w="3149193"/>
                <a:gridCol w="2024481"/>
                <a:gridCol w="2361895"/>
                <a:gridCol w="1799539"/>
                <a:gridCol w="1912010"/>
              </a:tblGrid>
              <a:tr h="441960">
                <a:tc>
                  <a:txBody>
                    <a:bodyPr/>
                    <a:lstStyle/>
                    <a:p>
                      <a:pPr algn="l"/>
                      <a:r>
                        <a:rPr sz="1250" b="1">
                          <a:solidFill>
                            <a:srgbClr val="FFFFFF"/>
                          </a:solidFill>
                        </a:rPr>
                        <a:t>Scenario (30-day run)</a:t>
                      </a:r>
                    </a:p>
                  </a:txBody>
                  <a:tcPr marL="76200" marR="76200" marT="25400" marB="25400">
                    <a:solidFill>
                      <a:srgbClr val="1F3A5F"/>
                    </a:solidFill>
                  </a:tcPr>
                </a:tc>
                <a:tc>
                  <a:txBody>
                    <a:bodyPr/>
                    <a:lstStyle/>
                    <a:p>
                      <a:pPr algn="ctr"/>
                      <a:r>
                        <a:rPr sz="1250" b="1">
                          <a:solidFill>
                            <a:srgbClr val="FFFFFF"/>
                          </a:solidFill>
                        </a:rPr>
                        <a:t>Recorded  S / B</a:t>
                      </a:r>
                    </a:p>
                  </a:txBody>
                  <a:tcPr marL="76200" marR="76200" marT="25400" marB="25400">
                    <a:solidFill>
                      <a:srgbClr val="1F3A5F"/>
                    </a:solidFill>
                  </a:tcPr>
                </a:tc>
                <a:tc>
                  <a:txBody>
                    <a:bodyPr/>
                    <a:lstStyle/>
                    <a:p>
                      <a:pPr algn="ctr"/>
                      <a:r>
                        <a:rPr sz="1250" b="1">
                          <a:solidFill>
                            <a:srgbClr val="FFFFFF"/>
                          </a:solidFill>
                        </a:rPr>
                        <a:t>Shape-fit Z  (smeared, realistic)</a:t>
                      </a:r>
                    </a:p>
                  </a:txBody>
                  <a:tcPr marL="76200" marR="76200" marT="25400" marB="25400">
                    <a:solidFill>
                      <a:srgbClr val="1F3A5F"/>
                    </a:solidFill>
                  </a:tcPr>
                </a:tc>
                <a:tc>
                  <a:txBody>
                    <a:bodyPr/>
                    <a:lstStyle/>
                    <a:p>
                      <a:pPr algn="ctr"/>
                      <a:r>
                        <a:rPr sz="1250" b="1">
                          <a:solidFill>
                            <a:srgbClr val="FFFFFF"/>
                          </a:solidFill>
                        </a:rPr>
                        <a:t>Z if no smearing</a:t>
                      </a:r>
                    </a:p>
                  </a:txBody>
                  <a:tcPr marL="76200" marR="76200" marT="25400" marB="25400">
                    <a:solidFill>
                      <a:srgbClr val="1F3A5F"/>
                    </a:solidFill>
                  </a:tcPr>
                </a:tc>
                <a:tc>
                  <a:txBody>
                    <a:bodyPr/>
                    <a:lstStyle/>
                    <a:p>
                      <a:pPr algn="ctr"/>
                      <a:r>
                        <a:rPr sz="1250" b="1">
                          <a:solidFill>
                            <a:srgbClr val="FFFFFF"/>
                          </a:solidFill>
                        </a:rPr>
                        <a:t>Naïve S/√B  (whole spectrum)</a:t>
                      </a:r>
                    </a:p>
                  </a:txBody>
                  <a:tcPr marL="76200" marR="76200" marT="25400" marB="25400">
                    <a:solidFill>
                      <a:srgbClr val="1F3A5F"/>
                    </a:solidFill>
                  </a:tcPr>
                </a:tc>
              </a:tr>
              <a:tr h="441960">
                <a:tc>
                  <a:txBody>
                    <a:bodyPr/>
                    <a:lstStyle/>
                    <a:p>
                      <a:pPr algn="l"/>
                      <a:r>
                        <a:rPr sz="1300" b="0">
                          <a:solidFill>
                            <a:srgbClr val="1F3A5F"/>
                          </a:solidFill>
                        </a:rPr>
                        <a:t>July  ·  0.2–0.7 MeV</a:t>
                      </a:r>
                    </a:p>
                  </a:txBody>
                  <a:tcPr marL="76200" marR="76200" marT="25400" marB="25400">
                    <a:solidFill>
                      <a:srgbClr val="EEF2F7"/>
                    </a:solidFill>
                  </a:tcPr>
                </a:tc>
                <a:tc>
                  <a:txBody>
                    <a:bodyPr/>
                    <a:lstStyle/>
                    <a:p>
                      <a:pPr algn="ctr"/>
                      <a:r>
                        <a:rPr sz="1300" b="0">
                          <a:solidFill>
                            <a:srgbClr val="1F3A5F"/>
                          </a:solidFill>
                        </a:rPr>
                        <a:t>64 / 3 093</a:t>
                      </a:r>
                    </a:p>
                  </a:txBody>
                  <a:tcPr marL="76200" marR="76200" marT="25400" marB="25400">
                    <a:solidFill>
                      <a:srgbClr val="EEF2F7"/>
                    </a:solidFill>
                  </a:tcPr>
                </a:tc>
                <a:tc>
                  <a:txBody>
                    <a:bodyPr/>
                    <a:lstStyle/>
                    <a:p>
                      <a:pPr algn="ctr"/>
                      <a:r>
                        <a:rPr sz="1300" b="0">
                          <a:solidFill>
                            <a:srgbClr val="1F3A5F"/>
                          </a:solidFill>
                        </a:rPr>
                        <a:t>2.6 σ</a:t>
                      </a:r>
                    </a:p>
                  </a:txBody>
                  <a:tcPr marL="76200" marR="76200" marT="25400" marB="25400">
                    <a:solidFill>
                      <a:srgbClr val="EEF2F7"/>
                    </a:solidFill>
                  </a:tcPr>
                </a:tc>
                <a:tc>
                  <a:txBody>
                    <a:bodyPr/>
                    <a:lstStyle/>
                    <a:p>
                      <a:pPr algn="ctr"/>
                      <a:r>
                        <a:rPr sz="1300" b="0">
                          <a:solidFill>
                            <a:srgbClr val="1F3A5F"/>
                          </a:solidFill>
                        </a:rPr>
                        <a:t>3.9 σ</a:t>
                      </a:r>
                    </a:p>
                  </a:txBody>
                  <a:tcPr marL="76200" marR="76200" marT="25400" marB="25400">
                    <a:solidFill>
                      <a:srgbClr val="EEF2F7"/>
                    </a:solidFill>
                  </a:tcPr>
                </a:tc>
                <a:tc>
                  <a:txBody>
                    <a:bodyPr/>
                    <a:lstStyle/>
                    <a:p>
                      <a:pPr algn="ctr"/>
                      <a:r>
                        <a:rPr sz="1300" b="0">
                          <a:solidFill>
                            <a:srgbClr val="1F3A5F"/>
                          </a:solidFill>
                        </a:rPr>
                        <a:t>1.2</a:t>
                      </a:r>
                    </a:p>
                  </a:txBody>
                  <a:tcPr marL="76200" marR="76200" marT="25400" marB="25400">
                    <a:solidFill>
                      <a:srgbClr val="EEF2F7"/>
                    </a:solidFill>
                  </a:tcPr>
                </a:tc>
              </a:tr>
              <a:tr h="441960">
                <a:tc>
                  <a:txBody>
                    <a:bodyPr/>
                    <a:lstStyle/>
                    <a:p>
                      <a:pPr algn="l"/>
                      <a:r>
                        <a:rPr sz="1300" b="0">
                          <a:solidFill>
                            <a:srgbClr val="1F3A5F"/>
                          </a:solidFill>
                        </a:rPr>
                        <a:t>Post-LS3  ·  0.2–2 MeV</a:t>
                      </a:r>
                    </a:p>
                  </a:txBody>
                  <a:tcPr marL="76200" marR="76200" marT="25400" marB="25400">
                    <a:solidFill>
                      <a:srgbClr val="FFFFFF"/>
                    </a:solidFill>
                  </a:tcPr>
                </a:tc>
                <a:tc>
                  <a:txBody>
                    <a:bodyPr/>
                    <a:lstStyle/>
                    <a:p>
                      <a:pPr algn="ctr"/>
                      <a:r>
                        <a:rPr sz="1300" b="0">
                          <a:solidFill>
                            <a:srgbClr val="1F3A5F"/>
                          </a:solidFill>
                        </a:rPr>
                        <a:t>220 / 10 600</a:t>
                      </a:r>
                    </a:p>
                  </a:txBody>
                  <a:tcPr marL="76200" marR="76200" marT="25400" marB="25400">
                    <a:solidFill>
                      <a:srgbClr val="FFFFFF"/>
                    </a:solidFill>
                  </a:tcPr>
                </a:tc>
                <a:tc>
                  <a:txBody>
                    <a:bodyPr/>
                    <a:lstStyle/>
                    <a:p>
                      <a:pPr algn="ctr"/>
                      <a:r>
                        <a:rPr sz="1300" b="0">
                          <a:solidFill>
                            <a:srgbClr val="1F3A5F"/>
                          </a:solidFill>
                        </a:rPr>
                        <a:t>4.9 σ</a:t>
                      </a:r>
                    </a:p>
                  </a:txBody>
                  <a:tcPr marL="76200" marR="76200" marT="25400" marB="25400">
                    <a:solidFill>
                      <a:srgbClr val="FFFFFF"/>
                    </a:solidFill>
                  </a:tcPr>
                </a:tc>
                <a:tc>
                  <a:txBody>
                    <a:bodyPr/>
                    <a:lstStyle/>
                    <a:p>
                      <a:pPr algn="ctr"/>
                      <a:r>
                        <a:rPr sz="1300" b="0">
                          <a:solidFill>
                            <a:srgbClr val="1F3A5F"/>
                          </a:solidFill>
                        </a:rPr>
                        <a:t>7.3 σ</a:t>
                      </a:r>
                    </a:p>
                  </a:txBody>
                  <a:tcPr marL="76200" marR="76200" marT="25400" marB="25400">
                    <a:solidFill>
                      <a:srgbClr val="FFFFFF"/>
                    </a:solidFill>
                  </a:tcPr>
                </a:tc>
                <a:tc>
                  <a:txBody>
                    <a:bodyPr/>
                    <a:lstStyle/>
                    <a:p>
                      <a:pPr algn="ctr"/>
                      <a:r>
                        <a:rPr sz="1300" b="0">
                          <a:solidFill>
                            <a:srgbClr val="1F3A5F"/>
                          </a:solidFill>
                        </a:rPr>
                        <a:t>2.1</a:t>
                      </a:r>
                    </a:p>
                  </a:txBody>
                  <a:tcPr marL="76200" marR="76200" marT="25400" marB="25400">
                    <a:solidFill>
                      <a:srgbClr val="FFFFFF"/>
                    </a:solidFill>
                  </a:tcPr>
                </a:tc>
              </a:tr>
            </a:tbl>
          </a:graphicData>
        </a:graphic>
      </p:graphicFrame>
      <p:sp>
        <p:nvSpPr>
          <p:cNvPr id="6" name="TextBox 5"/>
          <p:cNvSpPr txBox="1"/>
          <p:nvPr/>
        </p:nvSpPr>
        <p:spPr>
          <a:xfrm>
            <a:off x="457200" y="2788920"/>
            <a:ext cx="5349240" cy="3749039"/>
          </a:xfrm>
          <a:prstGeom prst="rect">
            <a:avLst/>
          </a:prstGeom>
          <a:noFill/>
        </p:spPr>
        <p:txBody>
          <a:bodyPr wrap="square" anchor="t">
            <a:spAutoFit/>
          </a:bodyPr>
          <a:lstStyle/>
          <a:p>
            <a:pPr algn="l">
              <a:lnSpc>
                <a:spcPct val="103000"/>
              </a:lnSpc>
            </a:pPr>
            <a:r>
              <a:rPr sz="1500" b="1">
                <a:solidFill>
                  <a:srgbClr val="1F3A5F"/>
                </a:solidFill>
              </a:rPr>
              <a:t>What IS in these numbers</a:t>
            </a:r>
          </a:p>
          <a:p>
            <a:pPr algn="l">
              <a:lnSpc>
                <a:spcPct val="103000"/>
              </a:lnSpc>
            </a:pPr>
            <a:r>
              <a:rPr sz="1200" b="0">
                <a:solidFill>
                  <a:srgbClr val="555555"/>
                </a:solidFill>
              </a:rPr>
              <a:t>Binned profile-likelihood ratio (Cowan et al. Asimov formula) — the rigorous form of “count in a region”, optimally weighted over all bins.</a:t>
            </a:r>
          </a:p>
          <a:p>
            <a:pPr algn="l">
              <a:lnSpc>
                <a:spcPct val="103000"/>
              </a:lnSpc>
            </a:pPr>
            <a:r>
              <a:rPr sz="1200" b="0">
                <a:solidFill>
                  <a:srgbClr val="555555"/>
                </a:solidFill>
              </a:rPr>
              <a:t>Same templates as slides 4–5: best-estimator (target-centre chord) capsule multiple-scattering smearing; α_IPC = 3.5×10⁻³, X17/IPC = 2.5%, MM-double acceptance.</a:t>
            </a:r>
          </a:p>
          <a:p>
            <a:pPr algn="l">
              <a:lnSpc>
                <a:spcPct val="103000"/>
              </a:lnSpc>
            </a:pPr>
            <a:r>
              <a:rPr sz="1200" b="0">
                <a:solidFill>
                  <a:srgbClr val="555555"/>
                </a:solidFill>
              </a:rPr>
              <a:t>Binning-independent: 2° and 8° (×4) bins agree to &lt;1%.</a:t>
            </a:r>
          </a:p>
          <a:p>
            <a:pPr algn="l">
              <a:lnSpc>
                <a:spcPct val="103000"/>
              </a:lnSpc>
            </a:pPr>
            <a:r>
              <a:rPr sz="1200" b="0">
                <a:solidFill>
                  <a:srgbClr val="555555"/>
                </a:solidFill>
              </a:rPr>
              <a:t>Background normalisation can be floated from the θ ≲ 90° region (X17-free) to ~2% — negligible. The shape fit ~doubles the naïve whole-spectrum S/√B by weighting the high-θ shoulder.</a:t>
            </a:r>
          </a:p>
        </p:txBody>
      </p:sp>
      <p:sp>
        <p:nvSpPr>
          <p:cNvPr id="7" name="Rectangle 6"/>
          <p:cNvSpPr/>
          <p:nvPr/>
        </p:nvSpPr>
        <p:spPr>
          <a:xfrm>
            <a:off x="5989320" y="2788920"/>
            <a:ext cx="5742432" cy="3749039"/>
          </a:xfrm>
          <a:prstGeom prst="rect">
            <a:avLst/>
          </a:prstGeom>
          <a:solidFill>
            <a:srgbClr val="FDE8E8"/>
          </a:solidFill>
          <a:ln w="22225">
            <a:solidFill>
              <a:srgbClr val="C03030"/>
            </a:solidFill>
          </a:ln>
        </p:spPr>
        <p:style>
          <a:lnRef idx="1">
            <a:schemeClr val="accent1"/>
          </a:lnRef>
          <a:fillRef idx="3">
            <a:schemeClr val="accent1"/>
          </a:fillRef>
          <a:effectRef idx="2">
            <a:schemeClr val="accent1"/>
          </a:effectRef>
          <a:fontRef idx="minor">
            <a:schemeClr val="lt1"/>
          </a:fontRef>
        </p:style>
        <p:txBody>
          <a:bodyPr rtlCol="0" anchor="ctr" wrap="square" lIns="114300" rIns="114300" tIns="76200"/>
          <a:lstStyle/>
          <a:p>
            <a:pPr algn="ctr"/>
            <a:r>
              <a:rPr sz="1250" b="1">
                <a:solidFill>
                  <a:srgbClr val="B02020"/>
                </a:solidFill>
              </a:rPr>
              <a:t>⚠  Why this is a ceiling, not a confidence level  (keep this box)</a:t>
            </a:r>
          </a:p>
          <a:p>
            <a:pPr>
              <a:lnSpc>
                <a:spcPct val="100000"/>
              </a:lnSpc>
              <a:spcBef>
                <a:spcPts val="300"/>
              </a:spcBef>
            </a:pPr>
            <a:r>
              <a:rPr sz="1150">
                <a:solidFill>
                  <a:srgbClr val="5A1010"/>
                </a:solidFill>
              </a:rPr>
              <a:t>•  The IPC angular SHAPE is assumed equal to the simulation truth; its uncertainty — which will dominate the real CL — is NOT propagated.</a:t>
            </a:r>
          </a:p>
          <a:p>
            <a:pPr>
              <a:lnSpc>
                <a:spcPct val="100000"/>
              </a:lnSpc>
              <a:spcBef>
                <a:spcPts val="300"/>
              </a:spcBef>
            </a:pPr>
            <a:r>
              <a:rPr sz="1150">
                <a:solidFill>
                  <a:srgbClr val="5A1010"/>
                </a:solidFill>
              </a:rPr>
              <a:t>•  Physics: a single E1 transition is assumed (probably fair, unquantified here).</a:t>
            </a:r>
          </a:p>
          <a:p>
            <a:pPr>
              <a:lnSpc>
                <a:spcPct val="100000"/>
              </a:lnSpc>
              <a:spcBef>
                <a:spcPts val="300"/>
              </a:spcBef>
            </a:pPr>
            <a:r>
              <a:rPr sz="1150">
                <a:solidFill>
                  <a:srgbClr val="5A1010"/>
                </a:solidFill>
              </a:rPr>
              <a:t>•  Detector/acceptance shape distortion is omitted: poor separation of near-collinear tracks (small θ), and finite active area shaping the catch probability for wide-angle pairs (large θ) — the signal region.</a:t>
            </a:r>
          </a:p>
          <a:p>
            <a:pPr>
              <a:lnSpc>
                <a:spcPct val="100000"/>
              </a:lnSpc>
              <a:spcBef>
                <a:spcPts val="300"/>
              </a:spcBef>
            </a:pPr>
            <a:r>
              <a:rPr sz="1150">
                <a:solidFill>
                  <a:srgbClr val="5A1010"/>
                </a:solidFill>
              </a:rPr>
              <a:t>•  With B ≈ 3 000–10 000, a few-% shape error in the high-θ signal region already rivals the statistical fluctuation — by post-LS3 the IPC shape, not statistics, sets the achievable CL.</a:t>
            </a:r>
          </a:p>
          <a:p>
            <a:pPr>
              <a:lnSpc>
                <a:spcPct val="100000"/>
              </a:lnSpc>
              <a:spcBef>
                <a:spcPts val="300"/>
              </a:spcBef>
            </a:pPr>
            <a:r>
              <a:rPr sz="1150">
                <a:solidFill>
                  <a:srgbClr val="5A1010"/>
                </a:solidFill>
              </a:rPr>
              <a:t>•  Read 2.6σ / 4.9σ as a best-case ceiling. A defensible CL needs the MEASURED IPC shape + full detector response folded in (open 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Summary &amp; status</a:t>
            </a:r>
          </a:p>
        </p:txBody>
      </p:sp>
      <p:sp>
        <p:nvSpPr>
          <p:cNvPr id="4" name="TextBox 3"/>
          <p:cNvSpPr txBox="1"/>
          <p:nvPr/>
        </p:nvSpPr>
        <p:spPr>
          <a:xfrm>
            <a:off x="640080" y="1463040"/>
            <a:ext cx="10972800" cy="4937760"/>
          </a:xfrm>
          <a:prstGeom prst="rect">
            <a:avLst/>
          </a:prstGeom>
          <a:noFill/>
        </p:spPr>
        <p:txBody>
          <a:bodyPr wrap="square" anchor="t">
            <a:spAutoFit/>
          </a:bodyPr>
          <a:lstStyle/>
          <a:p>
            <a:pPr algn="l">
              <a:lnSpc>
                <a:spcPct val="105000"/>
              </a:lnSpc>
            </a:pPr>
            <a:r>
              <a:rPr sz="2000" b="1">
                <a:solidFill>
                  <a:srgbClr val="1F3A5F"/>
                </a:solidFill>
              </a:rPr>
              <a:t>Production is settled.</a:t>
            </a:r>
          </a:p>
          <a:p>
            <a:pPr algn="l">
              <a:lnSpc>
                <a:spcPct val="105000"/>
              </a:lnSpc>
            </a:pPr>
            <a:r>
              <a:rPr sz="1500" b="0">
                <a:solidFill>
                  <a:srgbClr val="555555"/>
                </a:solidFill>
              </a:rPr>
              <a:t>Full Geant4 (5×10⁸ neutrons) confirms the rate table where it is valid: ~33 X17/day produced, living at MeV energies. The sub-keV measurement is dead (self-shielding).</a:t>
            </a:r>
          </a:p>
          <a:p>
            <a:pPr algn="l">
              <a:lnSpc>
                <a:spcPct val="105000"/>
              </a:lnSpc>
              <a:spcBef>
                <a:spcPts val="1200"/>
              </a:spcBef>
            </a:pPr>
            <a:r>
              <a:rPr sz="2000" b="1">
                <a:solidFill>
                  <a:srgbClr val="1F3A5F"/>
                </a:solidFill>
              </a:rPr>
              <a:t>July (current hardware): ~64 recorded X17 / 30 d.</a:t>
            </a:r>
          </a:p>
          <a:p>
            <a:pPr algn="l">
              <a:lnSpc>
                <a:spcPct val="105000"/>
              </a:lnSpc>
            </a:pPr>
            <a:r>
              <a:rPr sz="1500" b="0">
                <a:solidFill>
                  <a:srgbClr val="555555"/>
                </a:solidFill>
              </a:rPr>
              <a:t>Window 0.2–0.7 MeV under a conservative γ-flash recovery; on ~3 100 IPC (S/B ≈ 0.02). Extractable by a template fit, not a peak cut.</a:t>
            </a:r>
          </a:p>
          <a:p>
            <a:pPr algn="l">
              <a:lnSpc>
                <a:spcPct val="105000"/>
              </a:lnSpc>
              <a:spcBef>
                <a:spcPts val="1200"/>
              </a:spcBef>
            </a:pPr>
            <a:r>
              <a:rPr sz="2000" b="1">
                <a:solidFill>
                  <a:srgbClr val="1F3A5F"/>
                </a:solidFill>
              </a:rPr>
              <a:t>Post-LS3: ~220 recorded X17 / 30 d.</a:t>
            </a:r>
          </a:p>
          <a:p>
            <a:pPr algn="l">
              <a:lnSpc>
                <a:spcPct val="105000"/>
              </a:lnSpc>
            </a:pPr>
            <a:r>
              <a:rPr sz="1500" b="0">
                <a:solidFill>
                  <a:srgbClr val="555555"/>
                </a:solidFill>
              </a:rPr>
              <a:t>Reaching 2 MeV neutrons (×3.4 statistics). The decisive measurement is the real γ-flash recovery time.</a:t>
            </a:r>
          </a:p>
          <a:p>
            <a:pPr algn="l">
              <a:lnSpc>
                <a:spcPct val="105000"/>
              </a:lnSpc>
              <a:spcBef>
                <a:spcPts val="1200"/>
              </a:spcBef>
            </a:pPr>
            <a:r>
              <a:rPr sz="2000" b="1">
                <a:solidFill>
                  <a:srgbClr val="1F3A5F"/>
                </a:solidFill>
              </a:rPr>
              <a:t>The resolution is hardware-frozen at σ68 ≈ 14°.</a:t>
            </a:r>
          </a:p>
          <a:p>
            <a:pPr algn="l">
              <a:lnSpc>
                <a:spcPct val="105000"/>
              </a:lnSpc>
            </a:pPr>
            <a:r>
              <a:rPr sz="1500" b="0">
                <a:solidFill>
                  <a:srgbClr val="555555"/>
                </a:solidFill>
              </a:rPr>
              <a:t>Capsule wall MS; an all-composite vessel is the only lever. E0 is a completeness item, not a driver.</a:t>
            </a:r>
          </a:p>
          <a:p>
            <a:pPr algn="l">
              <a:lnSpc>
                <a:spcPct val="105000"/>
              </a:lnSpc>
              <a:spcBef>
                <a:spcPts val="1200"/>
              </a:spcBef>
            </a:pPr>
            <a:r>
              <a:rPr sz="1600" b="1">
                <a:solidFill>
                  <a:srgbClr val="B02020"/>
                </a:solidFill>
              </a:rPr>
              <a:t>Open items:</a:t>
            </a:r>
          </a:p>
          <a:p>
            <a:pPr algn="l">
              <a:lnSpc>
                <a:spcPct val="105000"/>
              </a:lnSpc>
            </a:pPr>
            <a:r>
              <a:rPr sz="1500" b="0">
                <a:solidFill>
                  <a:srgbClr val="555555"/>
                </a:solidFill>
              </a:rPr>
              <a:t>α_IPC &amp; X17/IPC provenance (Alberto); Eₙ-dependent generator kinematics; the template-fit significance projection; γ-flash recovery measurement.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743200"/>
            <a:ext cx="12191695" cy="13716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971800"/>
            <a:ext cx="10698480" cy="914400"/>
          </a:xfrm>
          <a:prstGeom prst="rect">
            <a:avLst/>
          </a:prstGeom>
          <a:noFill/>
        </p:spPr>
        <p:txBody>
          <a:bodyPr wrap="square" anchor="t">
            <a:spAutoFit/>
          </a:bodyPr>
          <a:lstStyle/>
          <a:p>
            <a:pPr algn="l">
              <a:lnSpc>
                <a:spcPct val="105000"/>
              </a:lnSpc>
            </a:pPr>
            <a:r>
              <a:rPr sz="3400" b="1">
                <a:solidFill>
                  <a:srgbClr val="FFFFFF"/>
                </a:solidFill>
              </a:rPr>
              <a:t>Backup: factor-4 rebinned spectra</a:t>
            </a:r>
          </a:p>
        </p:txBody>
      </p:sp>
      <p:sp>
        <p:nvSpPr>
          <p:cNvPr id="4" name="TextBox 3"/>
          <p:cNvSpPr txBox="1"/>
          <p:nvPr/>
        </p:nvSpPr>
        <p:spPr>
          <a:xfrm>
            <a:off x="731520" y="4297680"/>
            <a:ext cx="10698480" cy="640080"/>
          </a:xfrm>
          <a:prstGeom prst="rect">
            <a:avLst/>
          </a:prstGeom>
          <a:noFill/>
        </p:spPr>
        <p:txBody>
          <a:bodyPr wrap="square" anchor="t">
            <a:spAutoFit/>
          </a:bodyPr>
          <a:lstStyle/>
          <a:p>
            <a:pPr algn="l">
              <a:lnSpc>
                <a:spcPct val="105000"/>
              </a:lnSpc>
            </a:pPr>
            <a:r>
              <a:rPr sz="1600" b="0">
                <a:solidFill>
                  <a:srgbClr val="555555"/>
                </a:solidFill>
              </a:rPr>
              <a:t>The slides 4–5 stacked spectra with 4 base bins merged into one (2° → 8° opening-angle bins) — same events, coarser binning.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July run, rebinned ×4 (8° bins)</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Same as slide 4 — window 0.2–0.7 MeV, 30-day run — with 4 base bins merged into one</a:t>
            </a:r>
          </a:p>
        </p:txBody>
      </p:sp>
      <p:pic>
        <p:nvPicPr>
          <p:cNvPr id="5" name="Picture 4" descr="fig_stacked_july_rebin4.png"/>
          <p:cNvPicPr>
            <a:picLocks noChangeAspect="1"/>
          </p:cNvPicPr>
          <p:nvPr/>
        </p:nvPicPr>
        <p:blipFill>
          <a:blip r:embed="rId2"/>
          <a:stretch>
            <a:fillRect/>
          </a:stretch>
        </p:blipFill>
        <p:spPr>
          <a:xfrm>
            <a:off x="656409" y="1371600"/>
            <a:ext cx="6459582" cy="4206240"/>
          </a:xfrm>
          <a:prstGeom prst="rect">
            <a:avLst/>
          </a:prstGeom>
        </p:spPr>
      </p:pic>
      <p:sp>
        <p:nvSpPr>
          <p:cNvPr id="6" name="TextBox 5"/>
          <p:cNvSpPr txBox="1"/>
          <p:nvPr/>
        </p:nvSpPr>
        <p:spPr>
          <a:xfrm>
            <a:off x="7680960" y="1463040"/>
            <a:ext cx="4297680" cy="4206240"/>
          </a:xfrm>
          <a:prstGeom prst="rect">
            <a:avLst/>
          </a:prstGeom>
          <a:noFill/>
        </p:spPr>
        <p:txBody>
          <a:bodyPr wrap="square" anchor="t">
            <a:spAutoFit/>
          </a:bodyPr>
          <a:lstStyle/>
          <a:p>
            <a:pPr algn="l">
              <a:lnSpc>
                <a:spcPct val="105000"/>
              </a:lnSpc>
            </a:pPr>
            <a:r>
              <a:rPr sz="2000" b="1">
                <a:solidFill>
                  <a:srgbClr val="1F3A5F"/>
                </a:solidFill>
              </a:rPr>
              <a:t>≈ 64 X17 on ≈ 3 100 IPC</a:t>
            </a:r>
          </a:p>
          <a:p>
            <a:pPr algn="l">
              <a:lnSpc>
                <a:spcPct val="105000"/>
              </a:lnSpc>
            </a:pPr>
            <a:r>
              <a:rPr sz="1400" b="0">
                <a:solidFill>
                  <a:srgbClr val="555555"/>
                </a:solidFill>
              </a:rPr>
              <a:t>recorded in 30 days (S/B ≈ 0.021) — yields unchanged from slide 4.</a:t>
            </a:r>
          </a:p>
          <a:p>
            <a:pPr algn="l">
              <a:lnSpc>
                <a:spcPct val="105000"/>
              </a:lnSpc>
              <a:spcBef>
                <a:spcPts val="800"/>
              </a:spcBef>
            </a:pPr>
            <a:r>
              <a:rPr sz="1500" b="1">
                <a:solidFill>
                  <a:srgbClr val="B02020"/>
                </a:solidFill>
              </a:rPr>
              <a:t>Coarser binning, same statistics.</a:t>
            </a:r>
          </a:p>
          <a:p>
            <a:pPr algn="l">
              <a:lnSpc>
                <a:spcPct val="105000"/>
              </a:lnSpc>
            </a:pPr>
            <a:r>
              <a:rPr sz="1400" b="0">
                <a:solidFill>
                  <a:srgbClr val="555555"/>
                </a:solidFill>
              </a:rPr>
              <a:t>Merging 4 base bins (2° → 8°) smooths the per-bin fluctuations and makes the smeared 109° excess (red, over green-dotted truth) easier to read by eye — but it adds no information. Significance is set by the template fit, which is binning-independent.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
            <a:ext cx="11795760" cy="640080"/>
          </a:xfrm>
          <a:prstGeom prst="rect">
            <a:avLst/>
          </a:prstGeom>
          <a:noFill/>
        </p:spPr>
        <p:txBody>
          <a:bodyPr wrap="square" anchor="t">
            <a:spAutoFit/>
          </a:bodyPr>
          <a:lstStyle/>
          <a:p>
            <a:pPr algn="l">
              <a:lnSpc>
                <a:spcPct val="105000"/>
              </a:lnSpc>
            </a:pPr>
            <a:r>
              <a:rPr sz="2600" b="1">
                <a:solidFill>
                  <a:srgbClr val="1F3A5F"/>
                </a:solidFill>
              </a:rPr>
              <a:t>July vs post-LS3, rebinned ×4 (8° bins)</a:t>
            </a:r>
          </a:p>
        </p:txBody>
      </p:sp>
      <p:sp>
        <p:nvSpPr>
          <p:cNvPr id="4" name="TextBox 3"/>
          <p:cNvSpPr txBox="1"/>
          <p:nvPr/>
        </p:nvSpPr>
        <p:spPr>
          <a:xfrm>
            <a:off x="457200" y="868680"/>
            <a:ext cx="11795760" cy="457200"/>
          </a:xfrm>
          <a:prstGeom prst="rect">
            <a:avLst/>
          </a:prstGeom>
          <a:noFill/>
        </p:spPr>
        <p:txBody>
          <a:bodyPr wrap="square" anchor="t">
            <a:spAutoFit/>
          </a:bodyPr>
          <a:lstStyle/>
          <a:p>
            <a:pPr algn="l">
              <a:lnSpc>
                <a:spcPct val="105000"/>
              </a:lnSpc>
            </a:pPr>
            <a:r>
              <a:rPr sz="1500" b="0">
                <a:solidFill>
                  <a:srgbClr val="555555"/>
                </a:solidFill>
              </a:rPr>
              <a:t>Same as slide 5 — the two windows side by side — with 4 base bins merged into one</a:t>
            </a:r>
          </a:p>
        </p:txBody>
      </p:sp>
      <p:pic>
        <p:nvPicPr>
          <p:cNvPr id="5" name="Picture 4" descr="fig_stacked_compare_rebin4.png"/>
          <p:cNvPicPr>
            <a:picLocks noChangeAspect="1"/>
          </p:cNvPicPr>
          <p:nvPr/>
        </p:nvPicPr>
        <p:blipFill>
          <a:blip r:embed="rId2"/>
          <a:stretch>
            <a:fillRect/>
          </a:stretch>
        </p:blipFill>
        <p:spPr>
          <a:xfrm>
            <a:off x="423913" y="1463040"/>
            <a:ext cx="11313694" cy="4160520"/>
          </a:xfrm>
          <a:prstGeom prst="rect">
            <a:avLst/>
          </a:prstGeom>
        </p:spPr>
      </p:pic>
      <p:sp>
        <p:nvSpPr>
          <p:cNvPr id="6" name="TextBox 5"/>
          <p:cNvSpPr txBox="1"/>
          <p:nvPr/>
        </p:nvSpPr>
        <p:spPr>
          <a:xfrm>
            <a:off x="457200" y="5669280"/>
            <a:ext cx="11338560" cy="1005840"/>
          </a:xfrm>
          <a:prstGeom prst="rect">
            <a:avLst/>
          </a:prstGeom>
          <a:noFill/>
        </p:spPr>
        <p:txBody>
          <a:bodyPr wrap="square" anchor="t">
            <a:spAutoFit/>
          </a:bodyPr>
          <a:lstStyle/>
          <a:p>
            <a:pPr algn="l">
              <a:lnSpc>
                <a:spcPct val="105000"/>
              </a:lnSpc>
            </a:pPr>
            <a:r>
              <a:rPr sz="1700" b="1">
                <a:solidFill>
                  <a:srgbClr val="1F3A5F"/>
                </a:solidFill>
              </a:rPr>
              <a:t>July 64 X17 → post-LS3 220 X17 recorded (30 d), same S/B ≈ 0.021.</a:t>
            </a:r>
          </a:p>
          <a:p>
            <a:pPr algn="l">
              <a:lnSpc>
                <a:spcPct val="105000"/>
              </a:lnSpc>
            </a:pPr>
            <a:r>
              <a:rPr sz="1400" b="0">
                <a:solidFill>
                  <a:srgbClr val="555555"/>
                </a:solidFill>
              </a:rPr>
              <a:t>Rebinned ×4 (2° → 8°) for readability; the shape and yields are identical to slide 5. The post-LS3 gain is purely statistical.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